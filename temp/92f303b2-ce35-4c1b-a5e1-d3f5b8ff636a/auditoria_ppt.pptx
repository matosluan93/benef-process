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Exclusões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E-mail sem domínio Stefanini</c:v>
                </c:pt>
                <c:pt idx="1">
                  <c:v>Pessoa Jurídica (PJ)</c:v>
                </c:pt>
                <c:pt idx="2">
                  <c:v>E-mail inválido ou ausente</c:v>
                </c:pt>
                <c:pt idx="3">
                  <c:v>E-mail sem domínio IHM</c:v>
                </c:pt>
                <c:pt idx="4">
                  <c:v>Estagiário</c:v>
                </c:pt>
                <c:pt idx="5">
                  <c:v>Aprendiz</c:v>
                </c:pt>
                <c:pt idx="6">
                  <c:v>Data de admissão futura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1728</c:v>
                </c:pt>
                <c:pt idx="1">
                  <c:v>711</c:v>
                </c:pt>
                <c:pt idx="2">
                  <c:v>711</c:v>
                </c:pt>
                <c:pt idx="3">
                  <c:v>408</c:v>
                </c:pt>
                <c:pt idx="4">
                  <c:v>400</c:v>
                </c:pt>
                <c:pt idx="5">
                  <c:v>356</c:v>
                </c:pt>
                <c:pt idx="6">
                  <c:v>237</c:v>
                </c:pt>
              </c:numCache>
            </c:numRef>
          </c:val>
          <c:dPt>
            <c:idx val="0"/>
            <c:spPr>
              <a:solidFill>
                <a:srgbClr val="64748B"/>
              </a:solidFill>
            </c:spPr>
          </c:dPt>
          <c:dPt>
            <c:idx val="1"/>
            <c:spPr>
              <a:solidFill>
                <a:srgbClr val="0F2A56"/>
              </a:solidFill>
            </c:spPr>
          </c:dPt>
          <c:dPt>
            <c:idx val="2"/>
            <c:spPr>
              <a:solidFill>
                <a:srgbClr val="059669"/>
              </a:solidFill>
            </c:spPr>
          </c:dPt>
          <c:dPt>
            <c:idx val="3"/>
            <c:spPr>
              <a:solidFill>
                <a:srgbClr val="0891B2"/>
              </a:solidFill>
            </c:spPr>
          </c:dPt>
          <c:dPt>
            <c:idx val="4"/>
            <c:spPr>
              <a:solidFill>
                <a:srgbClr val="7C3AED"/>
              </a:solidFill>
            </c:spPr>
          </c:dPt>
          <c:dPt>
            <c:idx val="5"/>
            <c:spPr>
              <a:solidFill>
                <a:srgbClr val="D97706"/>
              </a:solidFill>
            </c:spPr>
          </c:dPt>
          <c:dPt>
            <c:idx val="6"/>
            <c:spPr>
              <a:solidFill>
                <a:srgbClr val="E53E3E"/>
              </a:solidFill>
            </c:spPr>
          </c:dPt>
          <c:dLbls>
            <c:showVal val="1"/>
            <c:showLegKey val="0"/>
            <c:showCatName val="0"/>
            <c:showSerName val="0"/>
            <c:showPercent val="0"/>
            <c:showBubbleSize val="0"/>
            <c:txPr>
              <a:bodyPr/>
              <a:lstStyle/>
              <a:p>
                <a:pPr>
                  <a:defRPr sz="1100" b="1"/>
                </a:pPr>
              </a:p>
            </c:txPr>
          </c:dLbls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Exclusões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s/ Stefanini</c:v>
                </c:pt>
                <c:pt idx="1">
                  <c:v>s/ IHM</c:v>
                </c:pt>
                <c:pt idx="2">
                  <c:v>E-mail inválido ou ausente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1728</c:v>
                </c:pt>
                <c:pt idx="1">
                  <c:v>408</c:v>
                </c:pt>
                <c:pt idx="2">
                  <c:v>711</c:v>
                </c:pt>
              </c:numCache>
            </c:numRef>
          </c:val>
          <c:dPt>
            <c:idx val="0"/>
            <c:spPr>
              <a:solidFill>
                <a:srgbClr val="7C3AED"/>
              </a:solidFill>
            </c:spPr>
          </c:dPt>
          <c:dPt>
            <c:idx val="1"/>
            <c:spPr>
              <a:solidFill>
                <a:srgbClr val="0891B2"/>
              </a:solidFill>
            </c:spPr>
          </c:dPt>
          <c:dPt>
            <c:idx val="2"/>
            <c:spPr>
              <a:solidFill>
                <a:srgbClr val="DC2626"/>
              </a:solidFill>
            </c:spPr>
          </c:dPt>
          <c:dLbls>
            <c:showVal val="1"/>
            <c:showLegKey val="0"/>
            <c:showCatName val="0"/>
            <c:showSerName val="0"/>
            <c:showPercent val="0"/>
            <c:showBubbleSize val="0"/>
            <c:txPr>
              <a:bodyPr/>
              <a:lstStyle/>
              <a:p>
                <a:pPr>
                  <a:defRPr sz="1300" b="1"/>
                </a:pPr>
              </a:p>
            </c:txPr>
          </c:dLbls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Vínculo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Pessoa Jurídica (PJ)</c:v>
                </c:pt>
                <c:pt idx="1">
                  <c:v>Estagiário</c:v>
                </c:pt>
                <c:pt idx="2">
                  <c:v>Aprendiz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711</c:v>
                </c:pt>
                <c:pt idx="1">
                  <c:v>400</c:v>
                </c:pt>
                <c:pt idx="2">
                  <c:v>356</c:v>
                </c:pt>
              </c:numCache>
            </c:numRef>
          </c:val>
          <c:dPt>
            <c:idx val="0"/>
            <c:spPr>
              <a:solidFill>
                <a:srgbClr val="D97706"/>
              </a:solidFill>
            </c:spPr>
          </c:dPt>
          <c:dPt>
            <c:idx val="1"/>
            <c:spPr>
              <a:solidFill>
                <a:srgbClr val="059669"/>
              </a:solidFill>
            </c:spPr>
          </c:dPt>
          <c:dPt>
            <c:idx val="2"/>
            <c:spPr>
              <a:solidFill>
                <a:srgbClr val="0F2A56"/>
              </a:solidFill>
            </c:spPr>
          </c:dPt>
          <c:dLbls>
            <c:showVal val="1"/>
            <c:showLegKey val="0"/>
            <c:showCatName val="0"/>
            <c:showSerName val="0"/>
            <c:showPercent val="0"/>
            <c:showBubbleSize val="0"/>
            <c:txPr>
              <a:bodyPr/>
              <a:lstStyle/>
              <a:p>
                <a:pPr>
                  <a:defRPr sz="1300" b="1"/>
                </a:pPr>
              </a:p>
            </c:txPr>
          </c:dLbls>
        </c:ser>
      </c:pieChart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Exclusões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IHM</c:v>
                </c:pt>
                <c:pt idx="1">
                  <c:v>Stefanini Consultoria</c:v>
                </c:pt>
                <c:pt idx="2">
                  <c:v>W3Haus Comunicação</c:v>
                </c:pt>
                <c:pt idx="3">
                  <c:v>Gauge Comunicação</c:v>
                </c:pt>
                <c:pt idx="4">
                  <c:v>Orbitall Atendimento</c:v>
                </c:pt>
                <c:pt idx="5">
                  <c:v>A11 Tecnologia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1284</c:v>
                </c:pt>
                <c:pt idx="1">
                  <c:v>1240</c:v>
                </c:pt>
                <c:pt idx="2">
                  <c:v>642</c:v>
                </c:pt>
                <c:pt idx="3">
                  <c:v>480</c:v>
                </c:pt>
                <c:pt idx="4">
                  <c:v>297</c:v>
                </c:pt>
                <c:pt idx="5">
                  <c:v>180</c:v>
                </c:pt>
              </c:numCache>
            </c:numRef>
          </c:val>
          <c:dPt>
            <c:idx val="0"/>
            <c:spPr>
              <a:solidFill>
                <a:srgbClr val="0F2A56"/>
              </a:solidFill>
            </c:spPr>
          </c:dPt>
          <c:dPt>
            <c:idx val="1"/>
            <c:spPr>
              <a:solidFill>
                <a:srgbClr val="1A4A8A"/>
              </a:solidFill>
            </c:spPr>
          </c:dPt>
          <c:dPt>
            <c:idx val="2"/>
            <c:spPr>
              <a:solidFill>
                <a:srgbClr val="0891B2"/>
              </a:solidFill>
            </c:spPr>
          </c:dPt>
          <c:dPt>
            <c:idx val="3"/>
            <c:spPr>
              <a:solidFill>
                <a:srgbClr val="0EA5E9"/>
              </a:solidFill>
            </c:spPr>
          </c:dPt>
          <c:dPt>
            <c:idx val="4"/>
            <c:spPr>
              <a:solidFill>
                <a:srgbClr val="38BDF8"/>
              </a:solidFill>
            </c:spPr>
          </c:dPt>
          <c:dPt>
            <c:idx val="5"/>
            <c:spPr>
              <a:solidFill>
                <a:srgbClr val="BAE6FD"/>
              </a:solidFill>
            </c:spPr>
          </c:dPt>
          <c:dLbls>
            <c:showVal val="1"/>
            <c:showLegKey val="0"/>
            <c:showCatName val="0"/>
            <c:showSerName val="0"/>
            <c:showPercent val="0"/>
            <c:showBubbleSize val="0"/>
            <c:txPr>
              <a:bodyPr/>
              <a:lstStyle/>
              <a:p>
                <a:pPr>
                  <a:defRPr sz="1200" b="1"/>
                </a:pPr>
              </a:p>
            </c:txPr>
          </c:dLbls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New Value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E-mail s/
domínio</c:v>
                </c:pt>
                <c:pt idx="1">
                  <c:v>PJ</c:v>
                </c:pt>
                <c:pt idx="2">
                  <c:v>E-mail
inválido</c:v>
                </c:pt>
                <c:pt idx="3">
                  <c:v>Estagiário</c:v>
                </c:pt>
                <c:pt idx="4">
                  <c:v>Aprendiz</c:v>
                </c:pt>
                <c:pt idx="5">
                  <c:v>Data
futura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716</c:v>
                </c:pt>
                <c:pt idx="1">
                  <c:v>237</c:v>
                </c:pt>
                <c:pt idx="2">
                  <c:v>237</c:v>
                </c:pt>
                <c:pt idx="3">
                  <c:v>0</c:v>
                </c:pt>
                <c:pt idx="4">
                  <c:v>0</c:v>
                </c:pt>
                <c:pt idx="5">
                  <c:v>79</c:v>
                </c:pt>
              </c:numCache>
            </c:numRef>
          </c:val>
          <c:spPr>
            <a:solidFill>
              <a:srgbClr val="0891B2"/>
            </a:solidFill>
          </c:spPr>
          <c:dLbls>
            <c:showVal val="1"/>
            <c:showLegKey val="0"/>
            <c:showCatName val="0"/>
            <c:showSerName val="0"/>
            <c:showPercent val="0"/>
            <c:showBubbleSize val="0"/>
            <c:txPr>
              <a:bodyPr/>
              <a:lstStyle/>
              <a:p>
                <a:pPr>
                  <a:defRPr sz="1000" b="1"/>
                </a:pPr>
              </a:p>
            </c:txPr>
          </c:dLbls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TotalPass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E-mail s/
domínio</c:v>
                </c:pt>
                <c:pt idx="1">
                  <c:v>PJ</c:v>
                </c:pt>
                <c:pt idx="2">
                  <c:v>E-mail
inválido</c:v>
                </c:pt>
                <c:pt idx="3">
                  <c:v>Estagiário</c:v>
                </c:pt>
                <c:pt idx="4">
                  <c:v>Aprendiz</c:v>
                </c:pt>
                <c:pt idx="5">
                  <c:v>Data
futura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710</c:v>
                </c:pt>
                <c:pt idx="1">
                  <c:v>237</c:v>
                </c:pt>
                <c:pt idx="2">
                  <c:v>237</c:v>
                </c:pt>
                <c:pt idx="3">
                  <c:v>200</c:v>
                </c:pt>
                <c:pt idx="4">
                  <c:v>178</c:v>
                </c:pt>
                <c:pt idx="5">
                  <c:v>79</c:v>
                </c:pt>
              </c:numCache>
            </c:numRef>
          </c:val>
          <c:spPr>
            <a:solidFill>
              <a:srgbClr val="0F2A56"/>
            </a:solidFill>
          </c:spPr>
          <c:dLbls>
            <c:showVal val="1"/>
            <c:showLegKey val="0"/>
            <c:showCatName val="0"/>
            <c:showSerName val="0"/>
            <c:showPercent val="0"/>
            <c:showBubbleSize val="0"/>
            <c:txPr>
              <a:bodyPr/>
              <a:lstStyle/>
              <a:p>
                <a:pPr>
                  <a:defRPr sz="1000" b="1"/>
                </a:pPr>
              </a:p>
            </c:txPr>
          </c:dLbls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Wellhub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E-mail s/
domínio</c:v>
                </c:pt>
                <c:pt idx="1">
                  <c:v>PJ</c:v>
                </c:pt>
                <c:pt idx="2">
                  <c:v>E-mail
inválido</c:v>
                </c:pt>
                <c:pt idx="3">
                  <c:v>Estagiário</c:v>
                </c:pt>
                <c:pt idx="4">
                  <c:v>Aprendiz</c:v>
                </c:pt>
                <c:pt idx="5">
                  <c:v>Data
futura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710</c:v>
                </c:pt>
                <c:pt idx="1">
                  <c:v>237</c:v>
                </c:pt>
                <c:pt idx="2">
                  <c:v>237</c:v>
                </c:pt>
                <c:pt idx="3">
                  <c:v>200</c:v>
                </c:pt>
                <c:pt idx="4">
                  <c:v>178</c:v>
                </c:pt>
                <c:pt idx="5">
                  <c:v>79</c:v>
                </c:pt>
              </c:numCache>
            </c:numRef>
          </c:val>
          <c:spPr>
            <a:solidFill>
              <a:srgbClr val="D97706"/>
            </a:solidFill>
          </c:spPr>
          <c:dLbls>
            <c:showVal val="1"/>
            <c:showLegKey val="0"/>
            <c:showCatName val="0"/>
            <c:showSerName val="0"/>
            <c:showPercent val="0"/>
            <c:showBubbleSize val="0"/>
            <c:txPr>
              <a:bodyPr/>
              <a:lstStyle/>
              <a:p>
                <a:pPr>
                  <a:defRPr sz="1000" b="1"/>
                </a:pPr>
              </a:p>
            </c:txPr>
          </c:dLbls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14400"/>
            <a:ext cx="2011680" cy="34747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HUB DE CONTROLE 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Auditoria de Exclusões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Processamento de Benefícios — Junho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TotalPass  ·  Wellhub  ·  New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26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BenefProcess  ·  Stefanini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A56"/>
                </a:solidFill>
                <a:latin typeface="Cambria"/>
              </a:rPr>
              <a:t>Visão Geral do Processamento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2560320" cy="1737360"/>
          </a:xfrm>
          <a:prstGeom prst="rect">
            <a:avLst/>
          </a:prstGeom>
          <a:solidFill>
            <a:srgbClr val="0F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mbria"/>
              </a:rPr>
              <a:t>18.194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9280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Registros na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311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  <a:latin typeface="Calibri"/>
              </a:rPr>
              <a:t>colaboradores processados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960120"/>
            <a:ext cx="2560320" cy="1737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0515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mbria"/>
              </a:rPr>
              <a:t>4.551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89280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Excluídos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2311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  <a:latin typeface="Calibri"/>
              </a:rPr>
              <a:t>não atenderam os critérios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960120"/>
            <a:ext cx="2560320" cy="1737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0515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mbria"/>
              </a:rPr>
              <a:t>25,0%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89280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Taxa de Exclusão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2311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  <a:latin typeface="Calibri"/>
              </a:rPr>
              <a:t>do total da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80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A56"/>
                </a:solidFill>
                <a:latin typeface="Cambria"/>
              </a:rPr>
              <a:t>Exclusões por Processo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2560320" cy="1554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2A56"/>
                </a:solidFill>
                <a:latin typeface="Calibri"/>
              </a:rPr>
              <a:t>TotalPass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74903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F2A56"/>
                </a:solidFill>
                <a:latin typeface="Cambria"/>
              </a:rPr>
              <a:t>1.641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793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36,1% das exclusões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3291840"/>
            <a:ext cx="2560320" cy="1554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33832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2A56"/>
                </a:solidFill>
                <a:latin typeface="Calibri"/>
              </a:rPr>
              <a:t>Wellhub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74903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891B2"/>
                </a:solidFill>
                <a:latin typeface="Cambria"/>
              </a:rPr>
              <a:t>1.641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2793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36,1% das exclusões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291840"/>
            <a:ext cx="2560320" cy="1554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33832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2A56"/>
                </a:solidFill>
                <a:latin typeface="Calibri"/>
              </a:rPr>
              <a:t>New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74903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97706"/>
                </a:solidFill>
                <a:latin typeface="Cambria"/>
              </a:rPr>
              <a:t>1.269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2793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27,9% das exclusões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2A56"/>
                </a:solidFill>
                <a:latin typeface="Cambria"/>
              </a:rPr>
              <a:t>Motivos de Exclusão — Ranking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Distribuição dos 4.551 registros excluídos por categoria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097280"/>
          <a:ext cx="566928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1097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Motivo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097280"/>
            <a:ext cx="2560320" cy="320040"/>
          </a:xfrm>
          <a:prstGeom prst="rect">
            <a:avLst/>
          </a:prstGeom>
          <a:solidFill>
            <a:srgbClr val="0F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097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Motivo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097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097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25603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46304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s/ Stefanini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463040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53E3E"/>
                </a:solidFill>
                <a:latin typeface="Calibri"/>
              </a:rPr>
              <a:t>1.728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46304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38,0%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892808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38528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Pessoa Jurídica (PJ)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193852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  <a:latin typeface="Calibri"/>
              </a:rPr>
              <a:t>711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3852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15,6%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368296"/>
            <a:ext cx="25603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2414015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E-mail inválido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414015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  <a:latin typeface="Calibri"/>
              </a:rPr>
              <a:t>711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414015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15,6%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843784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2889504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s/ IHM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88950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891B2"/>
                </a:solidFill>
                <a:latin typeface="Calibri"/>
              </a:rPr>
              <a:t>408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88950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9,0%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319272"/>
            <a:ext cx="25603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36208" y="3364991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Estagiário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364991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400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364991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8,8%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79476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6208" y="384048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Aprendiz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3840480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2A56"/>
                </a:solidFill>
                <a:latin typeface="Calibri"/>
              </a:rPr>
              <a:t>356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84048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7,8%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270248"/>
            <a:ext cx="25603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6208" y="4315968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Data de admissão futura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431596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237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31596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5,2%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A56"/>
                </a:solidFill>
                <a:latin typeface="Cambria"/>
              </a:rPr>
              <a:t>Análise: Problemas de E-mail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2,847 exclusões por e-mail — 62.6% do total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097280"/>
          <a:ext cx="438912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4937760" y="1097280"/>
            <a:ext cx="3749039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37760" y="1097280"/>
            <a:ext cx="64008" cy="87782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74920" y="11521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A56"/>
                </a:solidFill>
                <a:latin typeface="Calibri"/>
              </a:rPr>
              <a:t>E-mail sem domínio Stefanini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48132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E-mails pessoais ou externos em vez de @stefanini.com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152144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DC2626"/>
                </a:solidFill>
                <a:latin typeface="Cambria"/>
              </a:rPr>
              <a:t>1.728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62763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38,0% do total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2121408"/>
            <a:ext cx="3749039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37760" y="2121408"/>
            <a:ext cx="64008" cy="87782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21762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A56"/>
                </a:solidFill>
                <a:latin typeface="Calibri"/>
              </a:rPr>
              <a:t>E-mail sem domínio IHM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505456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Gmail / hotmail em vez de @ihm.com.br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176272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0891B2"/>
                </a:solidFill>
                <a:latin typeface="Cambria"/>
              </a:rPr>
              <a:t>408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6517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9,0% do total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3145536"/>
            <a:ext cx="3749039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60" y="3145536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3200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A56"/>
                </a:solidFill>
                <a:latin typeface="Calibri"/>
              </a:rPr>
              <a:t>E-mail inválido ou ausente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3529584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Campo vazio ou formato inválido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20040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7C3AED"/>
                </a:solidFill>
                <a:latin typeface="Cambria"/>
              </a:rPr>
              <a:t>711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36758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15,6% do total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31920"/>
            <a:ext cx="8412480" cy="38404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968496"/>
            <a:ext cx="8046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E"/>
                </a:solidFill>
                <a:latin typeface="Calibri"/>
              </a:rPr>
              <a:t>Total de exclusões por e-mail: 2,847  (62.6% de todas as exclusões)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2A56"/>
                </a:solidFill>
                <a:latin typeface="Cambria"/>
              </a:rPr>
              <a:t>Análise: Tipo de Vínculo Inelegível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1,467 exclusões por vínculo inelegível — 32.2% do total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097280"/>
          <a:ext cx="42062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4754880" y="1143000"/>
            <a:ext cx="3931920" cy="1024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0" y="1143000"/>
            <a:ext cx="64008" cy="10241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92040" y="119786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A56"/>
                </a:solidFill>
                <a:latin typeface="Calibri"/>
              </a:rPr>
              <a:t>Pessoa Jurídica (PJ)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508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711 exclusões (48,5%)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8013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Prestadores/autônomos — não elegíveis CLT
Excluídos de TotalPass, Wellhub e New Value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350008"/>
            <a:ext cx="3931920" cy="1024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2350008"/>
            <a:ext cx="64008" cy="10241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40487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A56"/>
                </a:solidFill>
                <a:latin typeface="Calibri"/>
              </a:rPr>
              <a:t>Estagiário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7157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alibri"/>
              </a:rPr>
              <a:t>400 exclusões (27,3%)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00837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Excluídos do TotalPass e Wellhub
Not excluídos do New 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3557016"/>
            <a:ext cx="3931920" cy="1024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3557016"/>
            <a:ext cx="64008" cy="1024128"/>
          </a:xfrm>
          <a:prstGeom prst="rect">
            <a:avLst/>
          </a:prstGeom>
          <a:solidFill>
            <a:srgbClr val="0F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361188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A56"/>
                </a:solidFill>
                <a:latin typeface="Calibri"/>
              </a:rPr>
              <a:t>Aprendiz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9227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A56"/>
                </a:solidFill>
                <a:latin typeface="Calibri"/>
              </a:rPr>
              <a:t>356 exclusões (24,3%)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21538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Não atendem critérios de elegibilidade
Não excluídos do New Value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A56"/>
                </a:solidFill>
                <a:latin typeface="Cambria"/>
              </a:rPr>
              <a:t>Exclusões por Empresa — Top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Empresas com maior volume de registros excluídos nos três processos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097280"/>
          <a:ext cx="841248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4645152"/>
            <a:ext cx="8229600" cy="347472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66344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A56"/>
                </a:solidFill>
                <a:latin typeface="Calibri"/>
              </a:rPr>
              <a:t>IHM (1,284) + Stefanini Consultoria (1,240) = 2.524 exclusões — 55.5% do total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A56"/>
                </a:solidFill>
                <a:latin typeface="Cambria"/>
              </a:rPr>
              <a:t>Exclusões por Motivo e Processo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Quantidade de exclusões por categoria em cada um dos três processos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097280"/>
          <a:ext cx="84124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4645152"/>
            <a:ext cx="8229600" cy="34747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66344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5F46"/>
                </a:solidFill>
                <a:latin typeface="Calibri"/>
              </a:rPr>
              <a:t>New Value não exclui Estagiários nem Aprendizes — apenas Pessoa Jurídica (PJ).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