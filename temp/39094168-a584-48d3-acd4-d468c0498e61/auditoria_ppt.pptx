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E-mail sem domínio Stefanini</c:v>
                </c:pt>
                <c:pt idx="1">
                  <c:v>Pessoa Jurídica (PJ)</c:v>
                </c:pt>
                <c:pt idx="2">
                  <c:v>E-mail inválido ou ausente</c:v>
                </c:pt>
                <c:pt idx="3">
                  <c:v>E-mail sem domínio IHM</c:v>
                </c:pt>
                <c:pt idx="4">
                  <c:v>Estagiário</c:v>
                </c:pt>
                <c:pt idx="5">
                  <c:v>Aprendiz</c:v>
                </c:pt>
                <c:pt idx="6">
                  <c:v>Data de admissão futura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1728</c:v>
                </c:pt>
                <c:pt idx="1">
                  <c:v>711</c:v>
                </c:pt>
                <c:pt idx="2">
                  <c:v>711</c:v>
                </c:pt>
                <c:pt idx="3">
                  <c:v>408</c:v>
                </c:pt>
                <c:pt idx="4">
                  <c:v>400</c:v>
                </c:pt>
                <c:pt idx="5">
                  <c:v>356</c:v>
                </c:pt>
                <c:pt idx="6">
                  <c:v>141</c:v>
                </c:pt>
              </c:numCache>
            </c:numRef>
          </c:val>
          <c:dPt>
            <c:idx val="0"/>
            <c:spPr>
              <a:solidFill>
                <a:srgbClr val="64748B"/>
              </a:solidFill>
            </c:spPr>
          </c:dPt>
          <c:dPt>
            <c:idx val="1"/>
            <c:spPr>
              <a:solidFill>
                <a:srgbClr val="0F2A56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0891B2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dPt>
            <c:idx val="5"/>
            <c:spPr>
              <a:solidFill>
                <a:srgbClr val="D97706"/>
              </a:solidFill>
            </c:spPr>
          </c:dPt>
          <c:dPt>
            <c:idx val="6"/>
            <c:spPr>
              <a:solidFill>
                <a:srgbClr val="E53E3E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1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s/ Stefanini</c:v>
                </c:pt>
                <c:pt idx="1">
                  <c:v>s/ IHM</c:v>
                </c:pt>
                <c:pt idx="2">
                  <c:v>E-mail inválido ou ausente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1728</c:v>
                </c:pt>
                <c:pt idx="1">
                  <c:v>408</c:v>
                </c:pt>
                <c:pt idx="2">
                  <c:v>711</c:v>
                </c:pt>
              </c:numCache>
            </c:numRef>
          </c:val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0891B2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Vínculo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Pessoa Jurídica (PJ)</c:v>
                </c:pt>
                <c:pt idx="1">
                  <c:v>Estagiário</c:v>
                </c:pt>
                <c:pt idx="2">
                  <c:v>Aprendiz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711</c:v>
                </c:pt>
                <c:pt idx="1">
                  <c:v>400</c:v>
                </c:pt>
                <c:pt idx="2">
                  <c:v>356</c:v>
                </c:pt>
              </c:numCache>
            </c:numRef>
          </c:val>
          <c:dPt>
            <c:idx val="0"/>
            <c:spPr>
              <a:solidFill>
                <a:srgbClr val="D97706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0F2A5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IHM</c:v>
                </c:pt>
                <c:pt idx="1">
                  <c:v>Stefanini Consultoria</c:v>
                </c:pt>
                <c:pt idx="2">
                  <c:v>W3Haus Comunicação</c:v>
                </c:pt>
                <c:pt idx="3">
                  <c:v>Gauge Comunicação</c:v>
                </c:pt>
                <c:pt idx="4">
                  <c:v>Orbitall Atendimento</c:v>
                </c:pt>
                <c:pt idx="5">
                  <c:v>A11 Tecnologia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1284</c:v>
                </c:pt>
                <c:pt idx="1">
                  <c:v>1144</c:v>
                </c:pt>
                <c:pt idx="2">
                  <c:v>642</c:v>
                </c:pt>
                <c:pt idx="3">
                  <c:v>480</c:v>
                </c:pt>
                <c:pt idx="4">
                  <c:v>297</c:v>
                </c:pt>
                <c:pt idx="5">
                  <c:v>180</c:v>
                </c:pt>
              </c:numCache>
            </c:numRef>
          </c:val>
          <c:dPt>
            <c:idx val="0"/>
            <c:spPr>
              <a:solidFill>
                <a:srgbClr val="0F2A56"/>
              </a:solidFill>
            </c:spPr>
          </c:dPt>
          <c:dPt>
            <c:idx val="1"/>
            <c:spPr>
              <a:solidFill>
                <a:srgbClr val="1A4A8A"/>
              </a:solidFill>
            </c:spPr>
          </c:dPt>
          <c:dPt>
            <c:idx val="2"/>
            <c:spPr>
              <a:solidFill>
                <a:srgbClr val="0891B2"/>
              </a:solidFill>
            </c:spPr>
          </c:dPt>
          <c:dPt>
            <c:idx val="3"/>
            <c:spPr>
              <a:solidFill>
                <a:srgbClr val="0EA5E9"/>
              </a:solidFill>
            </c:spPr>
          </c:dPt>
          <c:dPt>
            <c:idx val="4"/>
            <c:spPr>
              <a:solidFill>
                <a:srgbClr val="38BDF8"/>
              </a:solidFill>
            </c:spPr>
          </c:dPt>
          <c:dPt>
            <c:idx val="5"/>
            <c:spPr>
              <a:solidFill>
                <a:srgbClr val="BAE6FD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2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Value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716</c:v>
                </c:pt>
                <c:pt idx="1">
                  <c:v>237</c:v>
                </c:pt>
                <c:pt idx="2">
                  <c:v>237</c:v>
                </c:pt>
                <c:pt idx="3">
                  <c:v>0</c:v>
                </c:pt>
                <c:pt idx="4">
                  <c:v>0</c:v>
                </c:pt>
                <c:pt idx="5">
                  <c:v>47</c:v>
                </c:pt>
              </c:numCache>
            </c:numRef>
          </c:val>
          <c:spPr>
            <a:solidFill>
              <a:srgbClr val="0891B2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TotalPass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47</c:v>
                </c:pt>
              </c:numCache>
            </c:numRef>
          </c:val>
          <c:spPr>
            <a:solidFill>
              <a:srgbClr val="0F2A5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Wellhub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47</c:v>
                </c:pt>
              </c:numCache>
            </c:numRef>
          </c:val>
          <c:spPr>
            <a:solidFill>
              <a:srgbClr val="D9770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HUB DE CONTROLE 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Auditoria de Exclusões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Processamento de Benefícios —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TotalPass  ·  Wellhub  ·  New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BenefProcess  ·  Stefanini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Visão Geral do Processamento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560320" cy="173736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18.194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Registros na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colaboradores processados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960120"/>
            <a:ext cx="2560320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4.455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Excluídos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não atenderam os critérios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2560320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24,5%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Taxa de Exclusão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do total 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56"/>
                </a:solidFill>
                <a:latin typeface="Cambria"/>
              </a:rPr>
              <a:t>Exclusões por Processo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TotalPass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2A56"/>
                </a:solidFill>
                <a:latin typeface="Cambria"/>
              </a:rPr>
              <a:t>1.609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Wellhub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  <a:latin typeface="Cambria"/>
              </a:rPr>
              <a:t>1.609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New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Cambria"/>
              </a:rPr>
              <a:t>1.237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27,8% das exclusões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Motivos de Exclusão — Ranking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Distribuição dos 4.455 registros excluídos por categoria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5669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97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Stefanini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630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  <a:latin typeface="Calibri"/>
              </a:rPr>
              <a:t>1.728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38,8%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9280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Pessoa Jurídica (PJ)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711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16,0%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68296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414015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E-mail inválido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1401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711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1401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16,0%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4378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88950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IHM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895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91B2"/>
                </a:solidFill>
                <a:latin typeface="Calibri"/>
              </a:rPr>
              <a:t>408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95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9,2%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319272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364991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Estagiário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36499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649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9,0%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Aprendiz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84048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A56"/>
                </a:solidFill>
                <a:latin typeface="Calibri"/>
              </a:rPr>
              <a:t>356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40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8,0%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70248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31596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Data de admissão futura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3159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141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15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3,2%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Análise: Problemas de E-mail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2,847 exclusões por e-mail — 63.9%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389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937760" y="1097280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097280"/>
            <a:ext cx="64008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1521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Stefanini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813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E-mails pessoais ou externos em vez de @stefanini.com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152144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DC2626"/>
                </a:solidFill>
                <a:latin typeface="Cambria"/>
              </a:rPr>
              <a:t>1.728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276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38,8% do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21408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2121408"/>
            <a:ext cx="64008" cy="8778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IHM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054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Gmail / hotmail em vez de @ihm.com.br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76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891B2"/>
                </a:solidFill>
                <a:latin typeface="Cambria"/>
              </a:rPr>
              <a:t>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9,2% do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145536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3145536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inválido ou 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52958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Campo vazio ou formato inválido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004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7C3AED"/>
                </a:solidFill>
                <a:latin typeface="Cambria"/>
              </a:rPr>
              <a:t>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75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16,0% do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8412480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Total de exclusões por e-mail: 2,847  (63.9% de todas as exclusões)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Análise: Tipo de Vínculo Inelegível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1,467 exclusões por vínculo inelegível — 32.9%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754880" y="1143000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14300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1978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Pessoa Jurídica (PJ)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711 exclusões (48,5%)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013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Prestadores/autônomos — não elegíveis CLT
Excluídos de TotalPass, Wellhub e New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50008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350008"/>
            <a:ext cx="64008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4048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15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400 exclusões (27,3%)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0837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Excluídos do TotalPass e Wellhub
Not excluídos do New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557016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557016"/>
            <a:ext cx="64008" cy="1024128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118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Aprendiz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22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356 exclusões (24,3%)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21538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Não atendem critérios de elegibilidade
Não excluídos do New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Empresa — Top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Empresas com maior volume de registros excluídos nos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56"/>
                </a:solidFill>
                <a:latin typeface="Calibri"/>
              </a:rPr>
              <a:t>IHM (1,284) + Stefanini Consultoria (1,144) = 2.428 exclusões — 54.5% do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Motivo e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Quantidade de exclusões por categoria em cada um dos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F46"/>
                </a:solidFill>
                <a:latin typeface="Calibri"/>
              </a:rPr>
              <a:t>New Value não exclui Estagiários nem Aprendizes — apenas Pessoa Jurídica (PJ).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